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6400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62E"/>
                </a:solidFill>
                <a:latin typeface="微软雅黑" panose="020B0503020204020204" charset="-122"/>
              </a:rPr>
              <a:t>中烟国际集团有限公司官网
使用说明</a:t>
            </a:r>
            <a:endParaRPr sz="34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707A"/>
                </a:solidFill>
                <a:latin typeface="微软雅黑" panose="020B0503020204020204" charset="-122"/>
              </a:rPr>
              <a:t>面向网站使用、内容浏览与云服务器部署后验收</a:t>
            </a:r>
            <a:endParaRPr sz="150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03720" y="1143000"/>
            <a:ext cx="4709160" cy="333756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79627"/>
            <a:ext cx="4709160" cy="26643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394960"/>
            <a:ext cx="182880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V1.1 · 2026-06-05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1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网站功能总览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768096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A"/>
                </a:solidFill>
                <a:latin typeface="微软雅黑" panose="020B0503020204020204" charset="-122"/>
              </a:rPr>
              <a:t>用于快速了解网站栏目与主要操作路径</a:t>
            </a:r>
            <a:endParaRPr sz="9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36245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访问声明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162763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进入站点前确认年满 18 岁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36245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首页浏览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0528" y="162763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查看主视觉、新闻动态、快捷入口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350008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47802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新闻动态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128" y="274320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浏览新闻列表并进入详情阅读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2350008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478024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主营业务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743200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了解集团业务板块和介绍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3465576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9359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人才招聘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" y="38587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查看招聘信息与岗位内容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3465576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593592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联系我们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0528" y="3858768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查看地址、电话、邮箱等联系信息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4581144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09159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多语言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4128" y="49743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简体中文、繁体中文、英文切换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09360" y="4581144"/>
            <a:ext cx="4800600" cy="804672"/>
          </a:xfrm>
          <a:prstGeom prst="roundRect">
            <a:avLst/>
          </a:prstGeom>
          <a:solidFill>
            <a:srgbClr val="FAFB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709159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1E2D"/>
                </a:solidFill>
                <a:latin typeface="微软雅黑" panose="020B0503020204020204" charset="-122"/>
              </a:rPr>
              <a:t>站内搜索</a:t>
            </a:r>
            <a:endParaRPr sz="1300" b="1">
              <a:solidFill>
                <a:srgbClr val="A61E2D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4974336"/>
            <a:ext cx="4389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7A"/>
                </a:solidFill>
                <a:latin typeface="微软雅黑" panose="020B0503020204020204" charset="-122"/>
              </a:rPr>
              <a:t>通过搜索入口定位站内内容</a:t>
            </a:r>
            <a:endParaRPr sz="10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2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首次访问：年龄声明确认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age-mod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打开网站后，系统首先显示“本人年满18岁声明”。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点击“确认进入 / Enter”后进入网站主页。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如选择“否，未满18岁”，系统会提示无法进入网站。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该弹窗是访问流程说明，后续内容页截图已移除遮挡。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3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首页浏览：查看核心信息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首页顶部提供 Logo、语言切换、用户指南、导航菜单和搜索入口。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中部展示轮播图和新闻动态，点击新闻可进入详情。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底部提供免责声明、无障碍声明、隐私政策与版权信息。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首页是访问其它栏目和最新新闻的主要入口。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4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新闻动态：列表浏览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news-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点击顶部导航“新闻资讯 / 新闻动态”进入新闻列表。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列表按日期展示新闻，右侧为标题和摘要。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点击任意新闻项可进入对应新闻详情页。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本页截图已滚动到新闻主体列表区域。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5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新闻详情：阅读与字号调整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news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新闻详情页顶部提供返回按钮，可回到上一页或新闻列表。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标题下方显示发布日期，正文区域展示图片和文字内容。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A/A/A 按钮可切换正文小、中、大字号。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本页截图展示详情正文区域，不含年龄弹窗遮挡。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6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主营业务：业务内容查看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main-busin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点击导航“主营业务”进入业务介绍页面。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页面展示集团业务定位、业务板块和相关说明。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适合业务咨询用户快速了解集团主营方向。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截图定位在主营业务内容区域。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7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人才招聘：招聘信息查看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join-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点击导航“人才招聘”进入招聘栏目。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查看招聘相关介绍、岗位信息或后续入口。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如招聘内容更新，需按现有页面数据结构维护。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建议部署后从移动端也检查招聘内容排版。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8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联系我们：联系方式查看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cont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点击导航“联系我们”进入联系方式页面。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页面展示电话、邮箱、地址等联系信息。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适合业务咨询、投诉建议、无障碍反馈等场景。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上线前请确认邮箱、电话、地址均为最终生产信息。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9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集团概况：公司信息浏览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-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点击导航“公司概况 / 集团概况”进入介绍页面。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页面用于展示集团背景、定位和相关说明。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帮助访问者快速建立对企业的整体认知。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截图定位在集团概况主体内容区域。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10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多语言切换：简体/繁体/英文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995160" cy="4892040"/>
          </a:xfrm>
          <a:prstGeom prst="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0191"/>
            <a:ext cx="6995160" cy="39576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82127" y="1143000"/>
            <a:ext cx="1234440" cy="310896"/>
          </a:xfrm>
          <a:prstGeom prst="roundRect">
            <a:avLst/>
          </a:prstGeom>
          <a:solidFill>
            <a:srgbClr val="006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操作说明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82127" y="1600200"/>
            <a:ext cx="3794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顶部提供“简体版 / 繁體版 / English”语言切换按钮。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切换后语言状态会保存，路由跳转时保持当前语言。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20" b="0">
                <a:solidFill>
                  <a:srgbClr val="1F262E"/>
                </a:solidFill>
                <a:latin typeface="微软雅黑" panose="020B0503020204020204" charset="-122"/>
              </a:rPr>
              <a:t>英文版本按当前逻辑隐藏新闻模块，展示业务和联系方式内容。</a:t>
            </a:r>
            <a:endParaRPr sz="13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82127" y="4572000"/>
            <a:ext cx="1234440" cy="310896"/>
          </a:xfrm>
          <a:prstGeom prst="roundRect">
            <a:avLst/>
          </a:prstGeom>
          <a:solidFill>
            <a:srgbClr val="A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使用提示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7" y="5010912"/>
            <a:ext cx="3794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0">
                <a:solidFill>
                  <a:srgbClr val="1F262E"/>
                </a:solidFill>
                <a:latin typeface="微软雅黑" panose="020B0503020204020204" charset="-122"/>
              </a:rPr>
              <a:t>多语言验收时需分别检查导航、首页、页脚和核心页面文案。</a:t>
            </a:r>
            <a:endParaRPr sz="122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11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262E"/>
                </a:solidFill>
                <a:latin typeface="微软雅黑" panose="020B0503020204020204" charset="-122"/>
              </a:rPr>
              <a:t>内容维护建议</a:t>
            </a:r>
            <a:endParaRPr sz="2200" b="1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14400" cy="54864"/>
          </a:xfrm>
          <a:prstGeom prst="rect">
            <a:avLst/>
          </a:prstGeom>
          <a:solidFill>
            <a:srgbClr val="F7B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768096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A"/>
                </a:solidFill>
                <a:latin typeface="微软雅黑" panose="020B0503020204020204" charset="-122"/>
              </a:rPr>
              <a:t>保证后续更新有章可循</a:t>
            </a:r>
            <a:endParaRPr sz="9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262E"/>
                </a:solidFill>
                <a:latin typeface="微软雅黑" panose="020B0503020204020204" charset="-122"/>
              </a:rPr>
              <a:t>新增新闻时同步维护新闻列表、首页新闻、详情页分支和新闻图片。</a:t>
            </a:r>
            <a:endParaRPr sz="150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62E"/>
                </a:solidFill>
                <a:latin typeface="微软雅黑" panose="020B0503020204020204" charset="-122"/>
              </a:rPr>
              <a:t>替换图片前建议压缩体积，并检查桌面端和移动端显示效果。</a:t>
            </a:r>
            <a:endParaRPr sz="150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62E"/>
                </a:solidFill>
                <a:latin typeface="微软雅黑" panose="020B0503020204020204" charset="-122"/>
              </a:rPr>
              <a:t>修改导航或栏目时，同时检查简体、繁体、英文三套语言内容。</a:t>
            </a:r>
            <a:endParaRPr sz="150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62E"/>
                </a:solidFill>
                <a:latin typeface="微软雅黑" panose="020B0503020204020204" charset="-122"/>
              </a:rPr>
              <a:t>发布前执行构建并进行核心页面回归验收。</a:t>
            </a:r>
            <a:endParaRPr sz="1500" b="0">
              <a:solidFill>
                <a:srgbClr val="1F262E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262E"/>
                </a:solidFill>
                <a:latin typeface="微软雅黑" panose="020B0503020204020204" charset="-122"/>
              </a:rPr>
              <a:t>云服务器侧保留访问日志和错误日志，便于排查资源 404、接口异常和路由回退问题。</a:t>
            </a:r>
            <a:endParaRPr sz="1500" b="0">
              <a:solidFill>
                <a:srgbClr val="1F262E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2014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中烟国际集团有限公司官网使用说明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6707A"/>
                </a:solidFill>
                <a:latin typeface="微软雅黑" panose="020B0503020204020204" charset="-122"/>
              </a:rPr>
              <a:t>14</a:t>
            </a:r>
            <a:endParaRPr sz="850" b="0">
              <a:solidFill>
                <a:srgbClr val="6670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</Words>
  <Application>WPS 演示</Application>
  <PresentationFormat>On-screen Show (4:3)</PresentationFormat>
  <Paragraphs>208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双艺</cp:lastModifiedBy>
  <cp:revision>2</cp:revision>
  <dcterms:created xsi:type="dcterms:W3CDTF">2013-01-27T09:14:00Z</dcterms:created>
  <dcterms:modified xsi:type="dcterms:W3CDTF">2026-06-05T06:58:27Z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AF34289D14B944E6B87A6CC734C06030_12</vt:lpwstr>
  </property>
  <property fmtid="{D5CDD505-2E9C-101B-9397-08002B2CF9AE}" pid="3" name="KSOProductBuildVer">
    <vt:lpwstr>2052-12.1.0.26375</vt:lpwstr>
  </property>
</Properties>
</file>